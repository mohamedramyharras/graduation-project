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2-Channel sEMG Grip Force Control</a:t>
            </a:r>
            <a:br/>
            <a:r>
              <a:t>for 3D-Printed Prosthetic Hands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46120"/>
            <a:ext cx="39319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B0C4DE"/>
                </a:solidFill>
                <a:latin typeface="Calibri"/>
              </a:defRPr>
            </a:pPr>
            <a:r>
              <a:t>Authors: [Author 1], [Author 2], [Author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[University / Institution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4A90D9"/>
                </a:solidFill>
                <a:latin typeface="Calibri"/>
              </a:defRPr>
            </a:pPr>
            <a:r>
              <a:t>IEEE Conference on Biomedical Engineering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Over 5 million upper-limb amputees worldwide face limited access to affordable prosthetic solutions</a:t>
            </a: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Commercial myoelectric prostheses cost $20,000 – $100,000, making them inaccessible in developing countries</a:t>
            </a: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Most low-cost alternatives use simple open/close control — they lack proportional grip force modulation</a:t>
            </a: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Proportional control enables safer object manipulation: grasping an egg vs. a heavy tool requires different force levels</a:t>
            </a: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sEMG (surface electromyography) can decode user intent non-invasively, but typically requires 8+ channels and per-user calibration</a:t>
            </a: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Key question: Can we achieve accurate proportional grip force control with only 2 sEMG channels and NO per-user calibration?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17320"/>
            <a:ext cx="9966960" cy="164592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Design and implement an end-to-end system that maps 2 surface EMG sensors to proportional grip force on a 3D-printed prosthetic hand, using a subject-independent deep learning model that requires NO per-user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Minimize channel count: 2 channels (ECRB + ECU) selected via mRMR</a:t>
            </a:r>
          </a:p>
          <a:p>
            <a:pPr algn="l">
              <a:lnSpc>
                <a:spcPts val="31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Subject-independent GRU model — train once, deploy for any new user</a:t>
            </a:r>
          </a:p>
          <a:p>
            <a:pPr algn="l">
              <a:lnSpc>
                <a:spcPts val="31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Target: R² &gt; 0.75 on unseen subjects (cross-subject evaluation)</a:t>
            </a:r>
          </a:p>
          <a:p>
            <a:pPr algn="l">
              <a:lnSpc>
                <a:spcPts val="31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Affordable hardware: InMoov 3D-printed hand + Arduino Mega 2560</a:t>
            </a:r>
          </a:p>
          <a:p>
            <a:pPr algn="l">
              <a:lnSpc>
                <a:spcPts val="3100"/>
              </a:lnSpc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 Real-time inference: &lt; 50 ms latency on embedded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End-to-end pipeline from EMG acquisition to prosthetic actuation</a:t>
            </a:r>
          </a:p>
        </p:txBody>
      </p:sp>
      <p:pic>
        <p:nvPicPr>
          <p:cNvPr id="6" name="Picture 5" descr="fig1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InMoov Hand &amp; Hardware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InMoov open-source 3D-printed robotic hand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PLA-printed fingers with compliant joints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Nylon string tendons for flexion / extension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Actuation system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Linear actuators (one per finger group)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Proportional position → proportional grip force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EMG sensing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2× MyoWare 2.0 muscle sensors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Placed on ECRB and ECU forearm muscles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Control electronics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Arduino Mega 2560 (8-bit AVR, 256 KB flash)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 –  Analog EMG → feature extraction → GRU inference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280160"/>
          <a:ext cx="4846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Hand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InMoov 3D-printed (PLA)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Actuators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 actuators + nylon strings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Controller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Arduino Mega 2560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EMG Sensors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2× MyoWare 2.0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 (ECRB Ch5, ECU Ch3)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Sampling Rate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 Hz (Myo armband)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Size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23,809 parameters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Forearm Anatomy &amp; Electrode Placement</a:t>
            </a:r>
          </a:p>
        </p:txBody>
      </p:sp>
      <p:pic>
        <p:nvPicPr>
          <p:cNvPr id="5" name="Picture 4" descr="fig8_anatomy_electr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188720"/>
            <a:ext cx="4846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Selected Muscles: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ECRB (Ch 5) — Extensor Carpi Radialis Brevis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 –  Wrist extension &amp; radial deviation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 –  Active during grip force generation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ECU (Ch 3) — Extensor Carpi Ulnaris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 –  Wrist extension &amp; ulnar deviation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 –  Co-activates during power grasp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7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Selection Method: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mRMR (minimum Redundancy Maximum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Relevance) identified these 2 channels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as the most informative out of 8 Myo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armband channels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Reduces hardware from 8 to 2 sensors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(−75% cost / complexity reduction)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Dataset: Ghorbani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Public sEMG grip force dataset by Ghorbani et al.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10 healthy subjects performed grip force tasks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 –  Subject S8 excluded as statistical outlier (R² = 0.434)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 –  Final evaluation on 9 subjects (S1–S7, S9, S10)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EMG acquisition: Myo armband (Thalmic Labs)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 –  8 dry sEMG channels at 200 Hz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 –  We use only 2 of 8 channels after mRMR selection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Force measurement: ATI Mini-45 force/torque sensor (ground truth)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 –  Continuous force values normalized to [0, 1]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Protocol: ramp-and-hold grip contractions at varying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    force levels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Window: 100 ms (20 samples at 200 Hz), hop: 20 ms (80% overlap)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188720"/>
          <a:ext cx="4206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S4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S5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S6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S7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S8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Outlier (R²=0.434)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S9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S10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(R²=0.878)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mRMR Channel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Minimum Redundancy – Maximum Relevance feature selection</a:t>
            </a:r>
          </a:p>
        </p:txBody>
      </p:sp>
      <p:pic>
        <p:nvPicPr>
          <p:cNvPr id="6" name="Picture 5" descr="fig2_mrmr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000" b="1">
                <a:solidFill>
                  <a:srgbClr val="4A90D9"/>
                </a:solidFill>
                <a:latin typeface="Calibri"/>
              </a:defRPr>
            </a:pPr>
            <a:r>
              <a:t>Key Findings: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Ch 5 (ECRB) and Ch 3 (ECU) rank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highest in relevance to grip force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Adding more channels yields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diminishing returns after 2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2-channel model captures the dominant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grip-related neural drive with minimal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redundancy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Reduces sensor cost and setup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complexity dramatically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Both muscles are superficial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    → easy electrode placement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Extraction: 36-D Feature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1005840"/>
          </a:xfrm>
          <a:prstGeom prst="roundRect">
            <a:avLst/>
          </a:prstGeom>
          <a:solidFill>
            <a:srgbClr val="223A5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4A90D9"/>
                </a:solidFill>
                <a:latin typeface="Calibri"/>
              </a:defRPr>
            </a:pPr>
            <a:r>
              <a:t>36 features  =  2 channels  ×  6 time-domain features  ×  3 delta orders (Δ⁰, Δ¹, Δ²)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65176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310896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Abbrev.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Absolute Value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MAV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 rectified EMG amplitude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Waveform Length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WL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 signal length (complexity)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Crossings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ZC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 information proxy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Slope Sign Changes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SSC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 complexity measure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Mean Square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 power proxy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Variance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 energy / variability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265176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1900" b="1">
                <a:solidFill>
                  <a:srgbClr val="4A90D9"/>
                </a:solidFill>
                <a:latin typeface="Calibri"/>
              </a:defRPr>
            </a:pPr>
            <a:r>
              <a:t>Delta Orders: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Δ⁰ : Raw feature values (static snapshot)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Δ¹ : First derivative (rate of change)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•  Δ² : Second derivative (acceleration)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Temporal context helps the GRU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capture force dynamics during</a:t>
            </a:r>
          </a:p>
          <a:p>
            <a:pPr algn="l">
              <a:lnSpc>
                <a:spcPts val="2300"/>
              </a:lnSpc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grip onset, sustained hold, and release.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GRU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Gated Recurrent Unit — 23,809 trainable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011680" cy="146304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90D9"/>
                </a:solidFill>
                <a:latin typeface="Calibri"/>
              </a:defRPr>
            </a:pPr>
            <a:r>
              <a:t>Input Layer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36-D feature vector</a:t>
            </a:r>
            <a:br/>
            <a:r>
              <a:t>(2ch × 6feat × 3Δ)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2240280"/>
            <a:ext cx="59436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2011680" cy="146304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90D9"/>
                </a:solidFill>
                <a:latin typeface="Calibri"/>
              </a:defRPr>
            </a:pPr>
            <a:r>
              <a:t>GRU Layer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64 hidden units</a:t>
            </a:r>
            <a:br/>
            <a:r>
              <a:t>Sequence 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600" y="2240280"/>
            <a:ext cx="59436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0" y="1737360"/>
            <a:ext cx="2011680" cy="146304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90D9"/>
                </a:solidFill>
                <a:latin typeface="Calibri"/>
              </a:defRPr>
            </a:pPr>
            <a:r>
              <a:t>Dropout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p = 0.2</a:t>
            </a:r>
            <a:br/>
            <a:r>
              <a:t>Regularization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60" y="2240280"/>
            <a:ext cx="59436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1737360"/>
            <a:ext cx="2011680" cy="146304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90D9"/>
                </a:solidFill>
                <a:latin typeface="Calibri"/>
              </a:defRPr>
            </a:pPr>
            <a:r>
              <a:t>Dense Layer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64 → 64 → 1</a:t>
            </a:r>
            <a:br/>
            <a:r>
              <a:t>ReLU + Dropout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89720" y="2240280"/>
            <a:ext cx="59436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1737360"/>
            <a:ext cx="2011680" cy="1463040"/>
          </a:xfrm>
          <a:prstGeom prst="roundRect">
            <a:avLst/>
          </a:prstGeom>
          <a:solidFill>
            <a:srgbClr val="223A5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A90D9"/>
                </a:solidFill>
                <a:latin typeface="Calibri"/>
              </a:defRPr>
            </a:pPr>
            <a:r>
              <a:t>Output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Predicted grip force</a:t>
            </a:r>
            <a:br/>
            <a:r>
              <a:t>[0, 1] normalized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Total parameters: 23,809 (lightweight enough for embedded deployment on Arduino Mega 2560)</a:t>
            </a:r>
          </a:p>
          <a:p>
            <a:pPr algn="l">
              <a:lnSpc>
                <a:spcPts val="28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Loss: Mean Squared Error (MSE)   |   Optimizer: Adam (lr = 0.001, weight_decay = 5e-5)   |   Early stopping: patience = 12</a:t>
            </a:r>
          </a:p>
          <a:p>
            <a:pPr algn="l">
              <a:lnSpc>
                <a:spcPts val="28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Sequence length: 50 timesteps (1 second of context at 20 ms hop)   |   Batch size: 512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Strategy: Subject-Independent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Pooled General Training: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Single GRU model trained on pooled data from all 9 subjects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Subject-independent: works for any new user out of the box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No per-user fine-tuning or adaptation required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Train once, deploy for everyone — plug-and-play prosthetic control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Data Pipeline: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Window: 100 ms (20 samples at 200 Hz)   |   Hop: 20 ms (80% overlap)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Sequence: 50 consecutive timesteps → 1 second of temporal context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Normalization: per-subject MinMaxScaler (fit on train split only → no leakage)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Training Configuration: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Adam optimizer: lr=0.001, weight_decay=5e-5, batch size=512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Early stopping: patience=12, max 50 epochs, gradient clipping at 1.0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Test split: last 20% temporal (10-sequence gap prevents leakage)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Aft>
                <a:spcPts val="400"/>
              </a:spcAft>
              <a:defRPr sz="2200" b="1">
                <a:solidFill>
                  <a:srgbClr val="4A90D9"/>
                </a:solidFill>
                <a:latin typeface="Calibri"/>
              </a:defRPr>
            </a:pPr>
            <a:r>
              <a:t>Why Subject-Independent?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Clinical practicality — new user can use the device immediately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No calibration sessions required when donning the prosthetic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Per-Subject R² Performance</a:t>
            </a:r>
          </a:p>
        </p:txBody>
      </p:sp>
      <p:pic>
        <p:nvPicPr>
          <p:cNvPr id="5" name="Picture 4" descr="fig3_per_subjec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1900" b="1">
                <a:solidFill>
                  <a:srgbClr val="4A90D9"/>
                </a:solidFill>
                <a:latin typeface="Calibri"/>
              </a:defRPr>
            </a:pPr>
            <a:r>
              <a:t>GRU General Model: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R²       = 0.778 ± 0.062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NRMSE  = 11.5 ± 1.8 %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Pearson r = 0.890 ± 0.033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00"/>
              </a:lnSpc>
              <a:spcAft>
                <a:spcPts val="400"/>
              </a:spcAft>
              <a:defRPr sz="1900" b="1">
                <a:solidFill>
                  <a:srgbClr val="4A90D9"/>
                </a:solidFill>
                <a:latin typeface="Calibri"/>
              </a:defRPr>
            </a:pPr>
            <a:r>
              <a:t>Per-Subject R²: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S1   = 0.736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S2   = 0.781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S3   = 0.807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S4   = 0.786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S5   = 0.676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S6   = 0.827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S7   = 0.709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S9   = 0.805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S10 = 0.878  (best)</a:t>
            </a: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spcAft>
                <a:spcPts val="400"/>
              </a:spcAft>
              <a:defRPr sz="1600" b="0">
                <a:solidFill>
                  <a:srgbClr val="FF8888"/>
                </a:solidFill>
                <a:latin typeface="Calibri"/>
              </a:defRPr>
            </a:pPr>
            <a:r>
              <a:t>  S8   = 0.434  (outlier, excluded)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Prediction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Predicted vs. actual grip force over time for representative subjects</a:t>
            </a:r>
          </a:p>
        </p:txBody>
      </p:sp>
      <p:pic>
        <p:nvPicPr>
          <p:cNvPr id="6" name="Picture 5" descr="fig5_prediction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Predicted vs. Actual Scatter Plot</a:t>
            </a:r>
          </a:p>
        </p:txBody>
      </p:sp>
      <p:pic>
        <p:nvPicPr>
          <p:cNvPr id="5" name="Picture 4" descr="scatter_ghorbani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Comparison: GRU vs. Baselines</a:t>
            </a:r>
          </a:p>
        </p:txBody>
      </p:sp>
      <p:pic>
        <p:nvPicPr>
          <p:cNvPr id="5" name="Picture 4" descr="fig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583680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3716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914400"/>
                <a:gridCol w="914400"/>
                <a:gridCol w="7315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NRMSE (%)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Pearson 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 (Ours)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0.778±0.062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11.5±1.8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0.890±0.033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23,809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0.730±0.086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12.6±2.1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0.873±0.036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~24,000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Ridge Reg.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0.690±0.084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13.6±2.2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0.847±0.043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3840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GRU outperforms both baselines across ALL metrics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+6.6% R² improvement over MLP baseline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+12.8% R² improvement over Ridge Regression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Temporal modeling (GRU) captures EMG dynamics</a:t>
            </a:r>
          </a:p>
          <a:p>
            <a:pPr algn="l">
              <a:lnSpc>
                <a:spcPts val="220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  that static models (MLP, Ridge) cannot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 with Prior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188720"/>
                <a:gridCol w="1828800"/>
                <a:gridCol w="1828800"/>
                <a:gridCol w="329184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/ NRMSE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Castellini (2009)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SVR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Per-subject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R²=0.70–0.78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Finger force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Hahne et al. (2014)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Per-subject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R²≈0.72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Wrist 2-DOF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Kim et al. (2020)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Synergy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Per-subject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NRMSE=25.6%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Wrist+grip, r=0.846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Mao et al. (2023)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GRNN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Per-subject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R²=0.963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Grip force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Ghorbani (2023)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Per-subject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R²=0.994*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*Force as input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Ours (2026)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Subject-indep.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R²=0.778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Grip + prosthetic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Our system achieves competitive R² with 2–4× fewer channels than prior work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Only subject-independent approach — no per-user calibration needed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*Ghorbani R²=0.994 inflated: force used as 9th input (autoregressive) + data leakage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Uniquely integrates EMG model with physical 3D-printed prosthetic hand actuation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Embedded Deployment: Arduino Mega 2560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669280" cy="4754880"/>
          </a:xfrm>
          <a:prstGeom prst="roundRect">
            <a:avLst/>
          </a:prstGeom>
          <a:solidFill>
            <a:srgbClr val="0D1426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400"/>
              </a:spcAft>
              <a:defRPr sz="1400" b="0">
                <a:solidFill>
                  <a:srgbClr val="6A9955"/>
                </a:solidFill>
                <a:latin typeface="Calibri"/>
              </a:defRPr>
            </a:pPr>
            <a:r>
              <a:t>// Arduino Real-Time Inference Loop</a:t>
            </a:r>
          </a:p>
          <a:p>
            <a:pPr algn="l">
              <a:lnSpc>
                <a:spcPts val="600"/>
              </a:lnSpc>
              <a:spcAft>
                <a:spcPts val="400"/>
              </a:spcAft>
              <a:defRPr sz="600" b="0">
                <a:solidFill>
                  <a:srgbClr val="D4D4D4"/>
                </a:solidFill>
                <a:latin typeface="Calibri"/>
              </a:defRPr>
            </a:pP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4A90D9"/>
                </a:solidFill>
                <a:latin typeface="Calibri"/>
              </a:defRPr>
            </a:pPr>
            <a:r>
              <a:t>void loop() {</a:t>
            </a:r>
          </a:p>
          <a:p>
            <a:pPr algn="l">
              <a:lnSpc>
                <a:spcPts val="1400"/>
              </a:lnSpc>
              <a:spcAft>
                <a:spcPts val="400"/>
              </a:spcAft>
              <a:defRPr sz="1300" b="0">
                <a:solidFill>
                  <a:srgbClr val="6A9955"/>
                </a:solidFill>
                <a:latin typeface="Calibri"/>
              </a:defRPr>
            </a:pPr>
            <a:r>
              <a:t>  // 1. Read 2 analog EMG channels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float ch5 = analogRead(A0) / 1023.0;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float ch3 = analogRead(A1) / 1023.0;</a:t>
            </a:r>
          </a:p>
          <a:p>
            <a:pPr algn="l">
              <a:lnSpc>
                <a:spcPts val="600"/>
              </a:lnSpc>
              <a:spcAft>
                <a:spcPts val="400"/>
              </a:spcAft>
              <a:defRPr sz="600" b="0">
                <a:solidFill>
                  <a:srgbClr val="D4D4D4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spcAft>
                <a:spcPts val="400"/>
              </a:spcAft>
              <a:defRPr sz="1300" b="0">
                <a:solidFill>
                  <a:srgbClr val="6A9955"/>
                </a:solidFill>
                <a:latin typeface="Calibri"/>
              </a:defRPr>
            </a:pPr>
            <a:r>
              <a:t>  // 2. Extract 36-D features from window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extract_features(ch5, ch3, features);</a:t>
            </a:r>
          </a:p>
          <a:p>
            <a:pPr algn="l">
              <a:lnSpc>
                <a:spcPts val="600"/>
              </a:lnSpc>
              <a:spcAft>
                <a:spcPts val="400"/>
              </a:spcAft>
              <a:defRPr sz="600" b="0">
                <a:solidFill>
                  <a:srgbClr val="D4D4D4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spcAft>
                <a:spcPts val="400"/>
              </a:spcAft>
              <a:defRPr sz="1300" b="0">
                <a:solidFill>
                  <a:srgbClr val="6A9955"/>
                </a:solidFill>
                <a:latin typeface="Calibri"/>
              </a:defRPr>
            </a:pPr>
            <a:r>
              <a:t>  // 3. Run GRU forward pass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float force = gru_inference(features);</a:t>
            </a:r>
          </a:p>
          <a:p>
            <a:pPr algn="l">
              <a:lnSpc>
                <a:spcPts val="600"/>
              </a:lnSpc>
              <a:spcAft>
                <a:spcPts val="400"/>
              </a:spcAft>
              <a:defRPr sz="600" b="0">
                <a:solidFill>
                  <a:srgbClr val="D4D4D4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spcAft>
                <a:spcPts val="400"/>
              </a:spcAft>
              <a:defRPr sz="1300" b="0">
                <a:solidFill>
                  <a:srgbClr val="6A9955"/>
                </a:solidFill>
                <a:latin typeface="Calibri"/>
              </a:defRPr>
            </a:pPr>
            <a:r>
              <a:t>  // 4. Map force to actuator position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int pos = map(force, 0.0, 1.0, 0, 180);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D4D4D4"/>
                </a:solidFill>
                <a:latin typeface="Calibri"/>
              </a:defRPr>
            </a:pPr>
            <a:r>
              <a:t>  actuator.write(pos);</a:t>
            </a:r>
          </a:p>
          <a:p>
            <a:pPr algn="l">
              <a:lnSpc>
                <a:spcPts val="1700"/>
              </a:lnSpc>
              <a:spcAft>
                <a:spcPts val="400"/>
              </a:spcAft>
              <a:defRPr sz="1500" b="0">
                <a:solidFill>
                  <a:srgbClr val="4A90D9"/>
                </a:solidFill>
                <a:latin typeface="Calibri"/>
              </a:defRPr>
            </a:pPr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37160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Microcontroller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ATmega2560 (16 MHz)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Flash Memory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256 KB (model &lt; 100 KB)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SRAM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 KB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30 ms per window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Loop Time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50 ms (20 Hz update)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Parameters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23,809 (float32)</a:t>
                      </a:r>
                    </a:p>
                  </a:txBody>
                  <a:tcPr anchor="ctr">
                    <a:solidFill>
                      <a:srgbClr val="1420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 Consumption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~500 mW (board + sensors)</a:t>
                      </a:r>
                    </a:p>
                  </a:txBody>
                  <a:tcPr anchor="ctr">
                    <a:solidFill>
                      <a:srgbClr val="223A5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5669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PyTorch weights exported as C float arrays for Arduino compilation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Aft>
                <a:spcPts val="400"/>
              </a:spcAft>
              <a:defRPr sz="2400" b="1">
                <a:solidFill>
                  <a:srgbClr val="4A90D9"/>
                </a:solidFill>
                <a:latin typeface="Calibri"/>
              </a:defRPr>
            </a:pPr>
            <a:r>
              <a:t>Conclusions:</a:t>
            </a: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Demonstrated a complete 2-channel sEMG → proportional grip force → prosthetic actuation pipeline</a:t>
            </a: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GRU General model achieves R² = 0.778 ± 0.062 with ONLY 2 EMG channels (no per-user calibration)</a:t>
            </a: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Outperforms MLP (+6.6%) and Ridge Regression (+12.8%) baselines</a:t>
            </a: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23,809-parameter model fits on Arduino Mega 2560 with &lt; 50 ms inference latency</a:t>
            </a:r>
          </a:p>
          <a:p>
            <a:pPr algn="l">
              <a:lnSpc>
                <a:spcPts val="25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Total hardware cost ~$150 — orders of magnitude cheaper than commercial myoelectric prostheses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77639"/>
            <a:ext cx="94183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Aft>
                <a:spcPts val="400"/>
              </a:spcAft>
              <a:defRPr sz="2400" b="1">
                <a:solidFill>
                  <a:srgbClr val="4A90D9"/>
                </a:solidFill>
                <a:latin typeface="Calibri"/>
              </a:defRPr>
            </a:pPr>
            <a:r>
              <a:t>Future Work: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Validate on amputee participants (current data from intact-limb subjects)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Implement online adaptation / transfer learning for subject-specific fine-tuning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Extend to multi-DOF control: individual finger force + wrist rotation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Explore transformer-based architectures for longer temporal dependencies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Add haptic feedback to close the sensorimotor loop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•  Clinical trial for usability and user satisfaction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00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4A90D9"/>
                </a:solidFill>
                <a:latin typeface="Calibri"/>
              </a:defRPr>
            </a:pPr>
            <a: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