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4200" b="1">
                <a:solidFill>
                  <a:srgbClr val="FFFFFF"/>
                </a:solidFill>
                <a:latin typeface="Calibri"/>
              </a:defRPr>
            </a:pPr>
            <a:r>
              <a:t>2-Channel sEMG Grip Force Control</a:t>
            </a:r>
            <a:br/>
            <a:r>
              <a:t>for 3D-Printed Prosthetic Hands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246120"/>
            <a:ext cx="3931920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2200" b="0">
                <a:solidFill>
                  <a:srgbClr val="B0C4DE"/>
                </a:solidFill>
                <a:latin typeface="Calibri"/>
              </a:defRPr>
            </a:pPr>
            <a:r>
              <a:t>Authors: [Author 1], [Author 2], [Author 3]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60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800" b="0">
                <a:solidFill>
                  <a:srgbClr val="B0C4DE"/>
                </a:solidFill>
                <a:latin typeface="Calibri"/>
              </a:defRPr>
            </a:pPr>
            <a:r>
              <a:t>[University / Institution Name]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0">
                <a:solidFill>
                  <a:srgbClr val="4A90D9"/>
                </a:solidFill>
                <a:latin typeface="Calibri"/>
              </a:defRPr>
            </a:pPr>
            <a:r>
              <a:t>IEEE Conference on Biomedical Engineering  | 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Problem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40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•  Over 5 million upper-limb amputees worldwide face limited access to affordable prosthetic solutions</a:t>
            </a:r>
          </a:p>
          <a:p>
            <a:pPr algn="l">
              <a:lnSpc>
                <a:spcPts val="2700"/>
              </a:lnSpc>
              <a:spcAft>
                <a:spcPts val="40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700"/>
              </a:lnSpc>
              <a:spcAft>
                <a:spcPts val="40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•  Commercial myoelectric prostheses cost $20,000 – $100,000, making them inaccessible in developing countries</a:t>
            </a:r>
          </a:p>
          <a:p>
            <a:pPr algn="l">
              <a:lnSpc>
                <a:spcPts val="2700"/>
              </a:lnSpc>
              <a:spcAft>
                <a:spcPts val="40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700"/>
              </a:lnSpc>
              <a:spcAft>
                <a:spcPts val="40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•  Most low-cost alternatives use simple open/close control — they lack proportional grip force modulation</a:t>
            </a:r>
          </a:p>
          <a:p>
            <a:pPr algn="l">
              <a:lnSpc>
                <a:spcPts val="2700"/>
              </a:lnSpc>
              <a:spcAft>
                <a:spcPts val="40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700"/>
              </a:lnSpc>
              <a:spcAft>
                <a:spcPts val="40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•  Proportional control enables safer object manipulation: grasping an egg vs. a heavy tool requires different force levels</a:t>
            </a:r>
          </a:p>
          <a:p>
            <a:pPr algn="l">
              <a:lnSpc>
                <a:spcPts val="2700"/>
              </a:lnSpc>
              <a:spcAft>
                <a:spcPts val="40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700"/>
              </a:lnSpc>
              <a:spcAft>
                <a:spcPts val="40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•  sEMG (surface electromyography) can decode user intent non-invasively, but typically requires 8+ channels and per-user calibration</a:t>
            </a:r>
          </a:p>
          <a:p>
            <a:pPr algn="l">
              <a:lnSpc>
                <a:spcPts val="2700"/>
              </a:lnSpc>
              <a:spcAft>
                <a:spcPts val="40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700"/>
              </a:lnSpc>
              <a:spcAft>
                <a:spcPts val="40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•  Key question: Can we achieve accurate proportional grip force control with only 2 sEMG channels and NO per-user calibration?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Project Goal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417320"/>
            <a:ext cx="9966960" cy="1645920"/>
          </a:xfrm>
          <a:prstGeom prst="roundRect">
            <a:avLst/>
          </a:prstGeom>
          <a:solidFill>
            <a:srgbClr val="223A5E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Design and implement an end-to-end system that maps 2 surface EMG sensors to proportional grip force on a 3D-printed prosthetic hand, using a subject-independent deep learning model that requires NO per-user calibration.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47472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00"/>
              </a:lnSpc>
              <a:spcAft>
                <a:spcPts val="40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•  Minimize channel count: 2 channels (ECRB + ECU) selected via mRMR</a:t>
            </a:r>
          </a:p>
          <a:p>
            <a:pPr algn="l">
              <a:lnSpc>
                <a:spcPts val="3100"/>
              </a:lnSpc>
              <a:spcAft>
                <a:spcPts val="40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•  Subject-independent GRU model — train once, deploy for any new user</a:t>
            </a:r>
          </a:p>
          <a:p>
            <a:pPr algn="l">
              <a:lnSpc>
                <a:spcPts val="3100"/>
              </a:lnSpc>
              <a:spcAft>
                <a:spcPts val="40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•  Target: R² &gt; 0.75 on unseen subjects (cross-subject evaluation)</a:t>
            </a:r>
          </a:p>
          <a:p>
            <a:pPr algn="l">
              <a:lnSpc>
                <a:spcPts val="3100"/>
              </a:lnSpc>
              <a:spcAft>
                <a:spcPts val="40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•  Affordable hardware: InMoov 3D-printed hand + Arduino Mega 2560</a:t>
            </a:r>
          </a:p>
          <a:p>
            <a:pPr algn="l">
              <a:lnSpc>
                <a:spcPts val="3100"/>
              </a:lnSpc>
              <a:spcAft>
                <a:spcPts val="40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  <a:r>
              <a:t>•  Real-time inference: &lt; 50 ms latency on embedded hardware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B0C4DE"/>
                </a:solidFill>
                <a:latin typeface="Calibri"/>
              </a:defRPr>
            </a:pPr>
            <a:r>
              <a:t>End-to-end pipeline from EMG acquisition to prosthetic actuation</a:t>
            </a:r>
          </a:p>
        </p:txBody>
      </p:sp>
      <p:pic>
        <p:nvPicPr>
          <p:cNvPr id="6" name="Picture 5" descr="fig1_method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6984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InMoov Hand &amp; Hardware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•  InMoov open-source 3D-printed robotic hand</a:t>
            </a:r>
          </a:p>
          <a:p>
            <a:pPr algn="l">
              <a:lnSpc>
                <a:spcPts val="23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     –  PLA-printed fingers with compliant joints</a:t>
            </a:r>
          </a:p>
          <a:p>
            <a:pPr algn="l">
              <a:lnSpc>
                <a:spcPts val="23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     –  Nylon string tendons for flexion / extension</a:t>
            </a:r>
          </a:p>
          <a:p>
            <a:pPr algn="l">
              <a:lnSpc>
                <a:spcPts val="23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3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•  Actuation system</a:t>
            </a:r>
          </a:p>
          <a:p>
            <a:pPr algn="l">
              <a:lnSpc>
                <a:spcPts val="23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     –  Linear actuators (one per finger group)</a:t>
            </a:r>
          </a:p>
          <a:p>
            <a:pPr algn="l">
              <a:lnSpc>
                <a:spcPts val="23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     –  Proportional position → proportional grip force</a:t>
            </a:r>
          </a:p>
          <a:p>
            <a:pPr algn="l">
              <a:lnSpc>
                <a:spcPts val="23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3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•  EMG sensing</a:t>
            </a:r>
          </a:p>
          <a:p>
            <a:pPr algn="l">
              <a:lnSpc>
                <a:spcPts val="23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     –  2× MyoWare 2.0 muscle sensors</a:t>
            </a:r>
          </a:p>
          <a:p>
            <a:pPr algn="l">
              <a:lnSpc>
                <a:spcPts val="23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     –  Placed on ECRB and ECU forearm muscles</a:t>
            </a:r>
          </a:p>
          <a:p>
            <a:pPr algn="l">
              <a:lnSpc>
                <a:spcPts val="23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3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•  Control electronics</a:t>
            </a:r>
          </a:p>
          <a:p>
            <a:pPr algn="l">
              <a:lnSpc>
                <a:spcPts val="23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     –  Arduino Mega 2560 (8-bit AVR, 256 KB flash)</a:t>
            </a:r>
          </a:p>
          <a:p>
            <a:pPr algn="l">
              <a:lnSpc>
                <a:spcPts val="23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     –  Analog EMG → feature extraction → GRU inference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0" y="1280160"/>
          <a:ext cx="484632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651760"/>
              </a:tblGrid>
              <a:tr h="57912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Specification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Hand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InMoov 3D-printed (PLA)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Actuators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5× linear actuators + nylon strings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Inference Board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Raspberry Pi 3 (ARMv8, 1.2 GHz)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ADC + Actuator MCU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Arduino Mega 2560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EMG Sensors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2× MyoWare 2.0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Channels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 (ECRB Ch5, ECU Ch3)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Sampling Rate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200 Hz (Myo armband dataset)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Size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23,809 parameters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Forearm Anatomy &amp; Electrode Placement</a:t>
            </a:r>
          </a:p>
        </p:txBody>
      </p:sp>
      <p:pic>
        <p:nvPicPr>
          <p:cNvPr id="5" name="Picture 4" descr="fig8_anatomy_electr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9436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188720"/>
            <a:ext cx="48463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700"/>
              </a:lnSpc>
              <a:spcAft>
                <a:spcPts val="400"/>
              </a:spcAft>
              <a:defRPr sz="2200" b="1">
                <a:solidFill>
                  <a:srgbClr val="4A90D9"/>
                </a:solidFill>
                <a:latin typeface="Calibri"/>
              </a:defRPr>
            </a:pPr>
            <a:r>
              <a:t>Selected Muscles:</a:t>
            </a:r>
          </a:p>
          <a:p>
            <a:pPr algn="l">
              <a:lnSpc>
                <a:spcPts val="21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1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•  ECRB (Ch 5) — Extensor Carpi Radialis Brevis</a:t>
            </a:r>
          </a:p>
          <a:p>
            <a:pPr algn="l">
              <a:lnSpc>
                <a:spcPts val="21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     –  Wrist extension &amp; radial deviation</a:t>
            </a:r>
          </a:p>
          <a:p>
            <a:pPr algn="l">
              <a:lnSpc>
                <a:spcPts val="21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     –  Active during grip force generation</a:t>
            </a:r>
          </a:p>
          <a:p>
            <a:pPr algn="l">
              <a:lnSpc>
                <a:spcPts val="21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1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•  ECU (Ch 3) — Extensor Carpi Ulnaris</a:t>
            </a:r>
          </a:p>
          <a:p>
            <a:pPr algn="l">
              <a:lnSpc>
                <a:spcPts val="21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     –  Wrist extension &amp; ulnar deviation</a:t>
            </a:r>
          </a:p>
          <a:p>
            <a:pPr algn="l">
              <a:lnSpc>
                <a:spcPts val="21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     –  Co-activates during power grasp</a:t>
            </a:r>
          </a:p>
          <a:p>
            <a:pPr algn="l">
              <a:lnSpc>
                <a:spcPts val="21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700"/>
              </a:lnSpc>
              <a:spcAft>
                <a:spcPts val="400"/>
              </a:spcAft>
              <a:defRPr sz="2200" b="1">
                <a:solidFill>
                  <a:srgbClr val="4A90D9"/>
                </a:solidFill>
                <a:latin typeface="Calibri"/>
              </a:defRPr>
            </a:pPr>
            <a:r>
              <a:t>Selection Method:</a:t>
            </a:r>
          </a:p>
          <a:p>
            <a:pPr algn="l">
              <a:lnSpc>
                <a:spcPts val="21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1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•  mRMR (minimum Redundancy Maximum</a:t>
            </a:r>
          </a:p>
          <a:p>
            <a:pPr algn="l">
              <a:lnSpc>
                <a:spcPts val="21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    Relevance) identified these 2 channels</a:t>
            </a:r>
          </a:p>
          <a:p>
            <a:pPr algn="l">
              <a:lnSpc>
                <a:spcPts val="21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    as the most informative out of 8 Myo</a:t>
            </a:r>
          </a:p>
          <a:p>
            <a:pPr algn="l">
              <a:lnSpc>
                <a:spcPts val="21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    armband channels</a:t>
            </a:r>
          </a:p>
          <a:p>
            <a:pPr algn="l">
              <a:lnSpc>
                <a:spcPts val="21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1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•  Reduces hardware from 8 to 2 sensors</a:t>
            </a:r>
          </a:p>
          <a:p>
            <a:pPr algn="l">
              <a:lnSpc>
                <a:spcPts val="21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    (−75% cost / complexity reduction)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Dataset: Ghorbani et 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6400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Public sEMG grip force dataset by Ghorbani et al.</a:t>
            </a: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10 healthy subjects performed grip force tasks</a:t>
            </a: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     –  Subject S8 excluded as statistical outlier (R² = 0.434)</a:t>
            </a: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     –  Final evaluation on 9 subjects (S1–S7, S9, S10)</a:t>
            </a: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EMG acquisition: Myo armband (Thalmic Labs)</a:t>
            </a: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     –  8 dry sEMG channels at 200 Hz</a:t>
            </a: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     –  We use only 2 of 8 channels after mRMR selection</a:t>
            </a: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Force measurement: ATI Mini-45 force/torque sensor (ground truth)</a:t>
            </a: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     –  Continuous force values normalized to [0, 1]</a:t>
            </a: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Protocol: ramp-and-hold grip contractions at varying</a:t>
            </a: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    force levels</a:t>
            </a: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Window: 100 ms (20 samples at 200 Hz), hop: 20 ms (80% overlap)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98079" y="1188720"/>
          <a:ext cx="4206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Subject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Included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S1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S2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S3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S4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S5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S6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S7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S8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Outlier (R²=0.434)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S9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S10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Yes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(R²=0.878)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mRMR Channel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B0C4DE"/>
                </a:solidFill>
                <a:latin typeface="Calibri"/>
              </a:defRPr>
            </a:pPr>
            <a:r>
              <a:t>Minimum Redundancy – Maximum Relevance feature selection</a:t>
            </a:r>
          </a:p>
        </p:txBody>
      </p:sp>
      <p:pic>
        <p:nvPicPr>
          <p:cNvPr id="6" name="Picture 5" descr="fig2_mrmr_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858000" cy="5212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1188720"/>
            <a:ext cx="4114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spcAft>
                <a:spcPts val="400"/>
              </a:spcAft>
              <a:defRPr sz="2000" b="1">
                <a:solidFill>
                  <a:srgbClr val="4A90D9"/>
                </a:solidFill>
                <a:latin typeface="Calibri"/>
              </a:defRPr>
            </a:pPr>
            <a:r>
              <a:t>Key Findings: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2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•  Ch 5 (ECRB) and Ch 3 (ECU) rank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    highest in relevance to grip force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2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•  Adding more channels yields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    diminishing returns after 2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2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•  2-channel model captures the dominant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    grip-related neural drive with minimal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    redundancy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2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•  Reduces sensor cost and setup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    complexity dramatically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2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•  Both muscles are superficial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    → easy electrode placement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Extraction: 36-D Feature Vector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371600"/>
            <a:ext cx="9418320" cy="1005840"/>
          </a:xfrm>
          <a:prstGeom prst="roundRect">
            <a:avLst/>
          </a:prstGeom>
          <a:solidFill>
            <a:srgbClr val="223A5E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4A90D9"/>
                </a:solidFill>
                <a:latin typeface="Calibri"/>
              </a:defRPr>
            </a:pPr>
            <a:r>
              <a:t>36 features  =  2 channels  ×  6 time-domain features  ×  3 delta orders (Δ⁰, Δ¹, Δ²)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651760"/>
          <a:ext cx="6858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188720"/>
                <a:gridCol w="3108960"/>
              </a:tblGrid>
              <a:tr h="470262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Abbrev.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Absolute Value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MAV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Average rectified EMG amplitude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Waveform Length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WL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Cumulative signal length (complexity)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Zero Crossings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ZC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Frequency information proxy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Slope Sign Changes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SSC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Signal complexity measure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Root Mean Square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RMS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Signal power proxy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Variance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Signal energy / variability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046720" y="2651760"/>
            <a:ext cx="3657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spcAft>
                <a:spcPts val="400"/>
              </a:spcAft>
              <a:defRPr sz="1900" b="1">
                <a:solidFill>
                  <a:srgbClr val="4A90D9"/>
                </a:solidFill>
                <a:latin typeface="Calibri"/>
              </a:defRPr>
            </a:pPr>
            <a:r>
              <a:t>Delta Orders:</a:t>
            </a:r>
          </a:p>
          <a:p>
            <a:pPr algn="l">
              <a:lnSpc>
                <a:spcPts val="23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3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•  Δ⁰ : Raw feature values (static snapshot)</a:t>
            </a:r>
          </a:p>
          <a:p>
            <a:pPr algn="l">
              <a:lnSpc>
                <a:spcPts val="23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3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•  Δ¹ : First derivative (rate of change)</a:t>
            </a:r>
          </a:p>
          <a:p>
            <a:pPr algn="l">
              <a:lnSpc>
                <a:spcPts val="23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3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•  Δ² : Second derivative (acceleration)</a:t>
            </a:r>
          </a:p>
          <a:p>
            <a:pPr algn="l">
              <a:lnSpc>
                <a:spcPts val="23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3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Temporal context helps the GRU</a:t>
            </a:r>
          </a:p>
          <a:p>
            <a:pPr algn="l">
              <a:lnSpc>
                <a:spcPts val="23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capture force dynamics during</a:t>
            </a:r>
          </a:p>
          <a:p>
            <a:pPr algn="l">
              <a:lnSpc>
                <a:spcPts val="2300"/>
              </a:lnSpc>
              <a:spcAft>
                <a:spcPts val="400"/>
              </a:spcAft>
              <a:defRPr sz="1700" b="0">
                <a:solidFill>
                  <a:srgbClr val="FFFFFF"/>
                </a:solidFill>
                <a:latin typeface="Calibri"/>
              </a:defRPr>
            </a:pPr>
            <a:r>
              <a:t>grip onset, sustained hold, and release.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GRU Model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B0C4DE"/>
                </a:solidFill>
                <a:latin typeface="Calibri"/>
              </a:defRPr>
            </a:pPr>
            <a:r>
              <a:t>Gated Recurrent Unit — 23,809 trainable parameters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011680" cy="1463040"/>
          </a:xfrm>
          <a:prstGeom prst="roundRect">
            <a:avLst/>
          </a:prstGeom>
          <a:solidFill>
            <a:srgbClr val="223A5E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A90D9"/>
                </a:solidFill>
                <a:latin typeface="Calibri"/>
              </a:defRPr>
            </a:pPr>
            <a:r>
              <a:t>Input Layer</a:t>
            </a:r>
          </a:p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36-D feature vector</a:t>
            </a:r>
            <a:br/>
            <a:r>
              <a:t>(2ch × 6feat × 3Δ)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06040" y="2240280"/>
            <a:ext cx="594360" cy="457200"/>
          </a:xfrm>
          <a:prstGeom prst="rightArrow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43200" y="1737360"/>
            <a:ext cx="2011680" cy="1463040"/>
          </a:xfrm>
          <a:prstGeom prst="roundRect">
            <a:avLst/>
          </a:prstGeom>
          <a:solidFill>
            <a:srgbClr val="223A5E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A90D9"/>
                </a:solidFill>
                <a:latin typeface="Calibri"/>
              </a:defRPr>
            </a:pPr>
            <a:r>
              <a:t>GRU Layer</a:t>
            </a:r>
          </a:p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64 hidden units</a:t>
            </a:r>
            <a:br/>
            <a:r>
              <a:t>Sequence processing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00600" y="2240280"/>
            <a:ext cx="594360" cy="457200"/>
          </a:xfrm>
          <a:prstGeom prst="rightArrow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37760" y="1737360"/>
            <a:ext cx="2011680" cy="1463040"/>
          </a:xfrm>
          <a:prstGeom prst="roundRect">
            <a:avLst/>
          </a:prstGeom>
          <a:solidFill>
            <a:srgbClr val="223A5E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A90D9"/>
                </a:solidFill>
                <a:latin typeface="Calibri"/>
              </a:defRPr>
            </a:pPr>
            <a:r>
              <a:t>Dropout</a:t>
            </a:r>
          </a:p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p = 0.2</a:t>
            </a:r>
            <a:br/>
            <a:r>
              <a:t>Regularization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95160" y="2240280"/>
            <a:ext cx="594360" cy="457200"/>
          </a:xfrm>
          <a:prstGeom prst="rightArrow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32320" y="1737360"/>
            <a:ext cx="2011680" cy="1463040"/>
          </a:xfrm>
          <a:prstGeom prst="roundRect">
            <a:avLst/>
          </a:prstGeom>
          <a:solidFill>
            <a:srgbClr val="223A5E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A90D9"/>
                </a:solidFill>
                <a:latin typeface="Calibri"/>
              </a:defRPr>
            </a:pPr>
            <a:r>
              <a:t>Dense Layer</a:t>
            </a:r>
          </a:p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64 → 64 → 1</a:t>
            </a:r>
            <a:br/>
            <a:r>
              <a:t>ReLU + Dropout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189720" y="2240280"/>
            <a:ext cx="594360" cy="457200"/>
          </a:xfrm>
          <a:prstGeom prst="rightArrow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26880" y="1737360"/>
            <a:ext cx="2011680" cy="1463040"/>
          </a:xfrm>
          <a:prstGeom prst="roundRect">
            <a:avLst/>
          </a:prstGeom>
          <a:solidFill>
            <a:srgbClr val="223A5E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A90D9"/>
                </a:solidFill>
                <a:latin typeface="Calibri"/>
              </a:defRPr>
            </a:pPr>
            <a:r>
              <a:t>Output</a:t>
            </a:r>
          </a:p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t>Predicted grip force</a:t>
            </a:r>
            <a:br/>
            <a:r>
              <a:t>[0, 1] normalized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576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•  Total parameters: 23,809 (lightweight enough for embedded deployment on Arduino Mega 2560)</a:t>
            </a:r>
          </a:p>
          <a:p>
            <a:pPr algn="l">
              <a:lnSpc>
                <a:spcPts val="28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•  Loss: Mean Squared Error (MSE)   |   Optimizer: Adam (lr = 0.001, weight_decay = 5e-5)   |   Early stopping: patience = 12</a:t>
            </a:r>
          </a:p>
          <a:p>
            <a:pPr algn="l">
              <a:lnSpc>
                <a:spcPts val="28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•  Sequence length: 50 timesteps (1 second of context at 20 ms hop)   |   Batch size: 512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Training Strategy: Subject-Independent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43000"/>
            <a:ext cx="10515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spcAft>
                <a:spcPts val="400"/>
              </a:spcAft>
              <a:defRPr sz="2200" b="1">
                <a:solidFill>
                  <a:srgbClr val="4A90D9"/>
                </a:solidFill>
                <a:latin typeface="Calibri"/>
              </a:defRPr>
            </a:pPr>
            <a:r>
              <a:t>Pooled General Training: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2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Single GRU model trained on pooled data from all 9 subjects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Subject-independent: works for any new user out of the box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No per-user fine-tuning or adaptation required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Train once, deploy for everyone — plug-and-play prosthetic control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600"/>
              </a:lnSpc>
              <a:spcAft>
                <a:spcPts val="400"/>
              </a:spcAft>
              <a:defRPr sz="2200" b="1">
                <a:solidFill>
                  <a:srgbClr val="4A90D9"/>
                </a:solidFill>
                <a:latin typeface="Calibri"/>
              </a:defRPr>
            </a:pPr>
            <a:r>
              <a:t>Data Pipeline: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2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Window: 100 ms (20 samples at 200 Hz)   |   Hop: 20 ms (80% overlap)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Sequence: 50 consecutive timesteps → 1 second of temporal context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Normalization: per-subject MinMaxScaler (fit on train split only → no leakage)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600"/>
              </a:lnSpc>
              <a:spcAft>
                <a:spcPts val="400"/>
              </a:spcAft>
              <a:defRPr sz="2200" b="1">
                <a:solidFill>
                  <a:srgbClr val="4A90D9"/>
                </a:solidFill>
                <a:latin typeface="Calibri"/>
              </a:defRPr>
            </a:pPr>
            <a:r>
              <a:t>Training Configuration: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2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Adam optimizer: lr=0.001, weight_decay=5e-5, batch size=512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Early stopping: patience=12, max 50 epochs, gradient clipping at 1.0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Test split: last 20% temporal (10-sequence gap prevents leakage)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600"/>
              </a:lnSpc>
              <a:spcAft>
                <a:spcPts val="400"/>
              </a:spcAft>
              <a:defRPr sz="2200" b="1">
                <a:solidFill>
                  <a:srgbClr val="4A90D9"/>
                </a:solidFill>
                <a:latin typeface="Calibri"/>
              </a:defRPr>
            </a:pPr>
            <a:r>
              <a:t>Why Subject-Independent?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2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Clinical practicality — new user can use the device immediately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No calibration sessions required when donning the prosthetic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Results: Per-Subject R² Performance</a:t>
            </a:r>
          </a:p>
        </p:txBody>
      </p:sp>
      <p:pic>
        <p:nvPicPr>
          <p:cNvPr id="5" name="Picture 4" descr="fig3_per_subject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315200" cy="5394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188720"/>
            <a:ext cx="4114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00"/>
              </a:lnSpc>
              <a:spcAft>
                <a:spcPts val="400"/>
              </a:spcAft>
              <a:defRPr sz="1900" b="1">
                <a:solidFill>
                  <a:srgbClr val="4A90D9"/>
                </a:solidFill>
                <a:latin typeface="Calibri"/>
              </a:defRPr>
            </a:pPr>
            <a:r>
              <a:t>GRU General Model:</a:t>
            </a:r>
          </a:p>
          <a:p>
            <a:pPr algn="l">
              <a:lnSpc>
                <a:spcPts val="20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0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R²       = 0.778 ± 0.062</a:t>
            </a:r>
          </a:p>
          <a:p>
            <a:pPr algn="l">
              <a:lnSpc>
                <a:spcPts val="20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NRMSE  = 11.5 ± 1.8 %</a:t>
            </a:r>
          </a:p>
          <a:p>
            <a:pPr algn="l">
              <a:lnSpc>
                <a:spcPts val="20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Pearson r = 0.890 ± 0.033</a:t>
            </a:r>
          </a:p>
          <a:p>
            <a:pPr algn="l">
              <a:lnSpc>
                <a:spcPts val="20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300"/>
              </a:lnSpc>
              <a:spcAft>
                <a:spcPts val="400"/>
              </a:spcAft>
              <a:defRPr sz="1900" b="1">
                <a:solidFill>
                  <a:srgbClr val="4A90D9"/>
                </a:solidFill>
                <a:latin typeface="Calibri"/>
              </a:defRPr>
            </a:pPr>
            <a:r>
              <a:t>Per-Subject R²:</a:t>
            </a:r>
          </a:p>
          <a:p>
            <a:pPr algn="l">
              <a:lnSpc>
                <a:spcPts val="20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S1   = 0.736</a:t>
            </a:r>
          </a:p>
          <a:p>
            <a:pPr algn="l">
              <a:lnSpc>
                <a:spcPts val="20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S2   = 0.781</a:t>
            </a:r>
          </a:p>
          <a:p>
            <a:pPr algn="l">
              <a:lnSpc>
                <a:spcPts val="20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S3   = 0.807</a:t>
            </a:r>
          </a:p>
          <a:p>
            <a:pPr algn="l">
              <a:lnSpc>
                <a:spcPts val="20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S4   = 0.786</a:t>
            </a:r>
          </a:p>
          <a:p>
            <a:pPr algn="l">
              <a:lnSpc>
                <a:spcPts val="20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S5   = 0.676</a:t>
            </a:r>
          </a:p>
          <a:p>
            <a:pPr algn="l">
              <a:lnSpc>
                <a:spcPts val="20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S6   = 0.827</a:t>
            </a:r>
          </a:p>
          <a:p>
            <a:pPr algn="l">
              <a:lnSpc>
                <a:spcPts val="20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S7   = 0.709</a:t>
            </a:r>
          </a:p>
          <a:p>
            <a:pPr algn="l">
              <a:lnSpc>
                <a:spcPts val="20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S9   = 0.805</a:t>
            </a:r>
          </a:p>
          <a:p>
            <a:pPr algn="l">
              <a:lnSpc>
                <a:spcPts val="20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S10 = 0.878  (best)</a:t>
            </a:r>
          </a:p>
          <a:p>
            <a:pPr algn="l">
              <a:lnSpc>
                <a:spcPts val="20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000"/>
              </a:lnSpc>
              <a:spcAft>
                <a:spcPts val="400"/>
              </a:spcAft>
              <a:defRPr sz="1600" b="0">
                <a:solidFill>
                  <a:srgbClr val="FF8888"/>
                </a:solidFill>
                <a:latin typeface="Calibri"/>
              </a:defRPr>
            </a:pPr>
            <a:r>
              <a:t>  S8   = 0.434  (outlier, excluded)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Results: Prediction Traces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B0C4DE"/>
                </a:solidFill>
                <a:latin typeface="Calibri"/>
              </a:defRPr>
            </a:pPr>
            <a:r>
              <a:t>Predicted vs. actual grip force over time for representative subjects</a:t>
            </a:r>
          </a:p>
        </p:txBody>
      </p:sp>
      <p:pic>
        <p:nvPicPr>
          <p:cNvPr id="6" name="Picture 5" descr="fig5_prediction_tr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Results: Predicted vs. Actual Scatter Plot</a:t>
            </a:r>
          </a:p>
        </p:txBody>
      </p:sp>
      <p:pic>
        <p:nvPicPr>
          <p:cNvPr id="5" name="Picture 4" descr="scatter_ghorbani_g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4183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Model Comparison: GRU vs. Baselines</a:t>
            </a:r>
          </a:p>
        </p:txBody>
      </p:sp>
      <p:pic>
        <p:nvPicPr>
          <p:cNvPr id="5" name="Picture 4" descr="fig7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6583680" cy="45720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0" y="1371600"/>
          <a:ext cx="47548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005840"/>
                <a:gridCol w="914400"/>
                <a:gridCol w="914400"/>
                <a:gridCol w="73152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R²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NRMSE (%)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Pearson r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Params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GRU (Ours)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0.778±0.062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11.5±1.8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0.890±0.033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23,809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MLP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0.730±0.086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12.6±2.1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0.873±0.036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~24,000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Ridge Reg.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0.690±0.084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13.6±2.2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0.847±0.043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37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3840480"/>
            <a:ext cx="47548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•  GRU outperforms both baselines across ALL metrics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•  +6.6% R² improvement over MLP baseline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•  +12.8% R² improvement over Ridge Regression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•  Temporal modeling (GRU) captures EMG dynamics</a:t>
            </a:r>
          </a:p>
          <a:p>
            <a:pPr algn="l">
              <a:lnSpc>
                <a:spcPts val="22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  that static models (MLP, Ridge) cannot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Comparison with Prior Work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188720"/>
                <a:gridCol w="1828800"/>
                <a:gridCol w="1828800"/>
                <a:gridCol w="3291840"/>
              </a:tblGrid>
              <a:tr h="496388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Study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Channels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Calibration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R² / NRMSE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Castellini (2009)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SVR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Per-subject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R²=0.70–0.78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Finger force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Hahne et al. (2014)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Ridge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Per-subject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R²≈0.72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Wrist 2-DOF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Kim et al. (2020)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Synergy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Per-subject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NRMSE=25.6%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Wrist+grip, r=0.846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Mao et al. (2023)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GRNN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Per-subject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R²=0.963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Grip force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Ghorbani (2023)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GRU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Per-subject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R²=0.994*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*Force as input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Ours (2026)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GRU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Subject-indep.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R²=0.778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Grip + prosthetic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•  Our system achieves competitive R² with 2–4× fewer channels than prior work</a:t>
            </a:r>
          </a:p>
          <a:p>
            <a:pPr algn="l">
              <a:lnSpc>
                <a:spcPts val="26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•  Only subject-independent approach — no per-user calibration needed</a:t>
            </a:r>
          </a:p>
          <a:p>
            <a:pPr algn="l">
              <a:lnSpc>
                <a:spcPts val="26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•  *Ghorbani R²=0.994 inflated: force used as 9th input (autoregressive) + data leakage</a:t>
            </a:r>
          </a:p>
          <a:p>
            <a:pPr algn="l">
              <a:lnSpc>
                <a:spcPts val="2600"/>
              </a:lnSpc>
              <a:spcAft>
                <a:spcPts val="400"/>
              </a:spcAft>
              <a:defRPr sz="1800" b="0">
                <a:solidFill>
                  <a:srgbClr val="FFFFFF"/>
                </a:solidFill>
                <a:latin typeface="Calibri"/>
              </a:defRPr>
            </a:pPr>
            <a:r>
              <a:t>•  Uniquely integrates EMG model with physical 3D-printed prosthetic hand actuation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Real-Time Deployment: Raspberry Pi 3 + Arduino Mega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5852160" cy="4754880"/>
          </a:xfrm>
          <a:prstGeom prst="roundRect">
            <a:avLst/>
          </a:prstGeom>
          <a:solidFill>
            <a:srgbClr val="0D1426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spcAft>
                <a:spcPts val="400"/>
              </a:spcAft>
              <a:defRPr sz="1300" b="0">
                <a:solidFill>
                  <a:srgbClr val="6A9955"/>
                </a:solidFill>
                <a:latin typeface="Calibri"/>
              </a:defRPr>
            </a:pPr>
            <a:r>
              <a:t># Raspberry Pi 3 — inference_stream.py</a:t>
            </a:r>
          </a:p>
          <a:p>
            <a:pPr algn="l">
              <a:lnSpc>
                <a:spcPts val="600"/>
              </a:lnSpc>
              <a:spcAft>
                <a:spcPts val="400"/>
              </a:spcAft>
              <a:defRPr sz="600" b="0">
                <a:solidFill>
                  <a:srgbClr val="D4D4D4"/>
                </a:solidFill>
                <a:latin typeface="Calibri"/>
              </a:defRPr>
            </a:pPr>
          </a:p>
          <a:p>
            <a:pPr algn="l">
              <a:lnSpc>
                <a:spcPts val="1500"/>
              </a:lnSpc>
              <a:spcAft>
                <a:spcPts val="400"/>
              </a:spcAft>
              <a:defRPr sz="1400" b="0">
                <a:solidFill>
                  <a:srgbClr val="4A90D9"/>
                </a:solidFill>
                <a:latin typeface="Calibri"/>
              </a:defRPr>
            </a:pPr>
            <a:r>
              <a:t>model = GRUForcePredictor(...)</a:t>
            </a:r>
          </a:p>
          <a:p>
            <a:pPr algn="l">
              <a:lnSpc>
                <a:spcPts val="1500"/>
              </a:lnSpc>
              <a:spcAft>
                <a:spcPts val="400"/>
              </a:spcAft>
              <a:defRPr sz="1400" b="0">
                <a:solidFill>
                  <a:srgbClr val="D4D4D4"/>
                </a:solidFill>
                <a:latin typeface="Calibri"/>
              </a:defRPr>
            </a:pPr>
            <a:r>
              <a:t>model.load_state_dict(checkpoint)</a:t>
            </a:r>
          </a:p>
          <a:p>
            <a:pPr algn="l">
              <a:lnSpc>
                <a:spcPts val="600"/>
              </a:lnSpc>
              <a:spcAft>
                <a:spcPts val="400"/>
              </a:spcAft>
              <a:defRPr sz="600" b="0">
                <a:solidFill>
                  <a:srgbClr val="D4D4D4"/>
                </a:solidFill>
                <a:latin typeface="Calibri"/>
              </a:defRPr>
            </a:pPr>
          </a:p>
          <a:p>
            <a:pPr algn="l">
              <a:lnSpc>
                <a:spcPts val="1500"/>
              </a:lnSpc>
              <a:spcAft>
                <a:spcPts val="400"/>
              </a:spcAft>
              <a:defRPr sz="1400" b="0">
                <a:solidFill>
                  <a:srgbClr val="4A90D9"/>
                </a:solidFill>
                <a:latin typeface="Calibri"/>
              </a:defRPr>
            </a:pPr>
            <a:r>
              <a:t>while True:</a:t>
            </a:r>
          </a:p>
          <a:p>
            <a:pPr algn="l">
              <a:lnSpc>
                <a:spcPts val="1300"/>
              </a:lnSpc>
              <a:spcAft>
                <a:spcPts val="400"/>
              </a:spcAft>
              <a:defRPr sz="1200" b="0">
                <a:solidFill>
                  <a:srgbClr val="6A9955"/>
                </a:solidFill>
                <a:latin typeface="Calibri"/>
              </a:defRPr>
            </a:pPr>
            <a:r>
              <a:t>  # 1. Read raw ADC from Arduino</a:t>
            </a:r>
          </a:p>
          <a:p>
            <a:pPr algn="l">
              <a:lnSpc>
                <a:spcPts val="1500"/>
              </a:lnSpc>
              <a:spcAft>
                <a:spcPts val="400"/>
              </a:spcAft>
              <a:defRPr sz="1400" b="0">
                <a:solidFill>
                  <a:srgbClr val="D4D4D4"/>
                </a:solidFill>
                <a:latin typeface="Calibri"/>
              </a:defRPr>
            </a:pPr>
            <a:r>
              <a:t>  ch1, ch2 = ser.read_line()  # 2 kHz</a:t>
            </a:r>
          </a:p>
          <a:p>
            <a:pPr algn="l">
              <a:lnSpc>
                <a:spcPts val="600"/>
              </a:lnSpc>
              <a:spcAft>
                <a:spcPts val="400"/>
              </a:spcAft>
              <a:defRPr sz="600" b="0">
                <a:solidFill>
                  <a:srgbClr val="D4D4D4"/>
                </a:solidFill>
                <a:latin typeface="Calibri"/>
              </a:defRPr>
            </a:pPr>
          </a:p>
          <a:p>
            <a:pPr algn="l">
              <a:lnSpc>
                <a:spcPts val="1300"/>
              </a:lnSpc>
              <a:spcAft>
                <a:spcPts val="400"/>
              </a:spcAft>
              <a:defRPr sz="1200" b="0">
                <a:solidFill>
                  <a:srgbClr val="6A9955"/>
                </a:solidFill>
                <a:latin typeface="Calibri"/>
              </a:defRPr>
            </a:pPr>
            <a:r>
              <a:t>  # 2. Compute 36-D feature vector</a:t>
            </a:r>
          </a:p>
          <a:p>
            <a:pPr algn="l">
              <a:lnSpc>
                <a:spcPts val="1500"/>
              </a:lnSpc>
              <a:spcAft>
                <a:spcPts val="400"/>
              </a:spcAft>
              <a:defRPr sz="1400" b="0">
                <a:solidFill>
                  <a:srgbClr val="D4D4D4"/>
                </a:solidFill>
                <a:latin typeface="Calibri"/>
              </a:defRPr>
            </a:pPr>
            <a:r>
              <a:t>  feats = extract_features(window)</a:t>
            </a:r>
          </a:p>
          <a:p>
            <a:pPr algn="l">
              <a:lnSpc>
                <a:spcPts val="1500"/>
              </a:lnSpc>
              <a:spcAft>
                <a:spcPts val="400"/>
              </a:spcAft>
              <a:defRPr sz="1400" b="0">
                <a:solidFill>
                  <a:srgbClr val="D4D4D4"/>
                </a:solidFill>
                <a:latin typeface="Calibri"/>
              </a:defRPr>
            </a:pPr>
            <a:r>
              <a:t>  vec36 = delta_augment(feat_history)</a:t>
            </a:r>
          </a:p>
          <a:p>
            <a:pPr algn="l">
              <a:lnSpc>
                <a:spcPts val="600"/>
              </a:lnSpc>
              <a:spcAft>
                <a:spcPts val="400"/>
              </a:spcAft>
              <a:defRPr sz="600" b="0">
                <a:solidFill>
                  <a:srgbClr val="D4D4D4"/>
                </a:solidFill>
                <a:latin typeface="Calibri"/>
              </a:defRPr>
            </a:pPr>
          </a:p>
          <a:p>
            <a:pPr algn="l">
              <a:lnSpc>
                <a:spcPts val="1300"/>
              </a:lnSpc>
              <a:spcAft>
                <a:spcPts val="400"/>
              </a:spcAft>
              <a:defRPr sz="1200" b="0">
                <a:solidFill>
                  <a:srgbClr val="6A9955"/>
                </a:solidFill>
                <a:latin typeface="Calibri"/>
              </a:defRPr>
            </a:pPr>
            <a:r>
              <a:t>  # 3. GRU inference (~20-30 ms)</a:t>
            </a:r>
          </a:p>
          <a:p>
            <a:pPr algn="l">
              <a:lnSpc>
                <a:spcPts val="1500"/>
              </a:lnSpc>
              <a:spcAft>
                <a:spcPts val="400"/>
              </a:spcAft>
              <a:defRPr sz="1400" b="0">
                <a:solidFill>
                  <a:srgbClr val="D4D4D4"/>
                </a:solidFill>
                <a:latin typeface="Calibri"/>
              </a:defRPr>
            </a:pPr>
            <a:r>
              <a:t>  with torch.no_grad():</a:t>
            </a:r>
          </a:p>
          <a:p>
            <a:pPr algn="l">
              <a:lnSpc>
                <a:spcPts val="1500"/>
              </a:lnSpc>
              <a:spcAft>
                <a:spcPts val="400"/>
              </a:spcAft>
              <a:defRPr sz="1400" b="0">
                <a:solidFill>
                  <a:srgbClr val="D4D4D4"/>
                </a:solidFill>
                <a:latin typeface="Calibri"/>
              </a:defRPr>
            </a:pPr>
            <a:r>
              <a:t>    force = model(seq_tensor).item()</a:t>
            </a:r>
          </a:p>
          <a:p>
            <a:pPr algn="l">
              <a:lnSpc>
                <a:spcPts val="600"/>
              </a:lnSpc>
              <a:spcAft>
                <a:spcPts val="400"/>
              </a:spcAft>
              <a:defRPr sz="600" b="0">
                <a:solidFill>
                  <a:srgbClr val="D4D4D4"/>
                </a:solidFill>
                <a:latin typeface="Calibri"/>
              </a:defRPr>
            </a:pPr>
          </a:p>
          <a:p>
            <a:pPr algn="l">
              <a:lnSpc>
                <a:spcPts val="1300"/>
              </a:lnSpc>
              <a:spcAft>
                <a:spcPts val="400"/>
              </a:spcAft>
              <a:defRPr sz="1200" b="0">
                <a:solidFill>
                  <a:srgbClr val="6A9955"/>
                </a:solidFill>
                <a:latin typeface="Calibri"/>
              </a:defRPr>
            </a:pPr>
            <a:r>
              <a:t>  # 4. Send to Arduino</a:t>
            </a:r>
          </a:p>
          <a:p>
            <a:pPr algn="l">
              <a:lnSpc>
                <a:spcPts val="1500"/>
              </a:lnSpc>
              <a:spcAft>
                <a:spcPts val="400"/>
              </a:spcAft>
              <a:defRPr sz="1400" b="0">
                <a:solidFill>
                  <a:srgbClr val="D4D4D4"/>
                </a:solidFill>
                <a:latin typeface="Calibri"/>
              </a:defRPr>
            </a:pPr>
            <a:r>
              <a:t>  ser.write(f'F,{force:.4f}')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28016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spcAft>
                <a:spcPts val="400"/>
              </a:spcAft>
              <a:defRPr sz="1800" b="1">
                <a:solidFill>
                  <a:srgbClr val="4A90D9"/>
                </a:solidFill>
                <a:latin typeface="Calibri"/>
              </a:defRPr>
            </a:pPr>
            <a:r>
              <a:t>Split-Processing Architecture:</a:t>
            </a:r>
          </a:p>
          <a:p>
            <a:pPr algn="l">
              <a:lnSpc>
                <a:spcPts val="19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19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•  Arduino Mega 2560</a:t>
            </a:r>
          </a:p>
          <a:p>
            <a:pPr algn="l">
              <a:lnSpc>
                <a:spcPts val="19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   –  Samples 2 EMG channels at 2 kHz (ADC)</a:t>
            </a:r>
          </a:p>
          <a:p>
            <a:pPr algn="l">
              <a:lnSpc>
                <a:spcPts val="19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   –  Streams raw values to Pi over USB serial</a:t>
            </a:r>
          </a:p>
          <a:p>
            <a:pPr algn="l">
              <a:lnSpc>
                <a:spcPts val="19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   –  Receives force [0,1] and drives PWM</a:t>
            </a:r>
          </a:p>
          <a:p>
            <a:pPr algn="l">
              <a:lnSpc>
                <a:spcPts val="19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19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•  Raspberry Pi 3  (ARMv8, 1.2 GHz)</a:t>
            </a:r>
          </a:p>
          <a:p>
            <a:pPr algn="l">
              <a:lnSpc>
                <a:spcPts val="19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   –  Feature extraction (numpy, ~2 ms)</a:t>
            </a:r>
          </a:p>
          <a:p>
            <a:pPr algn="l">
              <a:lnSpc>
                <a:spcPts val="19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   –  GRU inference  (PyTorch, ~20–30 ms)</a:t>
            </a:r>
          </a:p>
          <a:p>
            <a:pPr algn="l">
              <a:lnSpc>
                <a:spcPts val="19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     –  Butterworth smoothing (4 Hz)</a:t>
            </a:r>
          </a:p>
          <a:p>
            <a:pPr algn="l">
              <a:lnSpc>
                <a:spcPts val="1900"/>
              </a:lnSpc>
              <a:spcAft>
                <a:spcPts val="4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4297680"/>
          <a:ext cx="53035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377440"/>
              </a:tblGrid>
              <a:tr h="222885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Latency</a:t>
                      </a:r>
                    </a:p>
                  </a:txBody>
                  <a:tcPr anchor="ctr">
                    <a:solidFill>
                      <a:srgbClr val="4A90D9"/>
                    </a:solidFill>
                  </a:tcPr>
                </a:tc>
              </a:tr>
              <a:tr h="222885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ADC + serial to Pi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~2 ms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  <a:tr h="222885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 extraction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~2 ms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</a:tr>
              <a:tr h="222885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GRU inference (Pi 3)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~20–30 ms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  <a:tr h="222885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Serial back to Arduino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~3 ms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</a:tr>
              <a:tr h="222885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‣ Total end-to-end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~45–55 ms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  <a:tr h="222885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Update rate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20–25 Hz</a:t>
                      </a:r>
                    </a:p>
                  </a:txBody>
                  <a:tcPr anchor="ctr">
                    <a:solidFill>
                      <a:srgbClr val="14203A"/>
                    </a:solidFill>
                  </a:tcPr>
                </a:tc>
              </a:tr>
              <a:tr h="222885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Acceptable threshold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100–300 ms</a:t>
                      </a:r>
                    </a:p>
                  </a:txBody>
                  <a:tcPr anchor="ctr">
                    <a:solidFill>
                      <a:srgbClr val="223A5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4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728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00"/>
              </a:lnSpc>
              <a:spcAft>
                <a:spcPts val="400"/>
              </a:spcAft>
              <a:defRPr sz="2400" b="1">
                <a:solidFill>
                  <a:srgbClr val="4A90D9"/>
                </a:solidFill>
                <a:latin typeface="Calibri"/>
              </a:defRPr>
            </a:pPr>
            <a:r>
              <a:t>Conclusions:</a:t>
            </a:r>
          </a:p>
          <a:p>
            <a:pPr algn="l">
              <a:lnSpc>
                <a:spcPts val="25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5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Demonstrated a complete 2-channel sEMG → proportional grip force → prosthetic actuation pipeline</a:t>
            </a:r>
          </a:p>
          <a:p>
            <a:pPr algn="l">
              <a:lnSpc>
                <a:spcPts val="25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GRU General model achieves R² = 0.778 ± 0.062 with ONLY 2 EMG channels (no per-user calibration)</a:t>
            </a:r>
          </a:p>
          <a:p>
            <a:pPr algn="l">
              <a:lnSpc>
                <a:spcPts val="25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Outperforms MLP (+6.6%) and Ridge Regression (+12.8%) baselines</a:t>
            </a:r>
          </a:p>
          <a:p>
            <a:pPr algn="l">
              <a:lnSpc>
                <a:spcPts val="25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23,809-parameter model fits on Arduino Mega 2560 with &lt; 50 ms inference latency</a:t>
            </a:r>
          </a:p>
          <a:p>
            <a:pPr algn="l">
              <a:lnSpc>
                <a:spcPts val="25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Total hardware cost ~$150 — orders of magnitude cheaper than commercial myoelectric prostheses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977639"/>
            <a:ext cx="9418320" cy="27432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06908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00"/>
              </a:lnSpc>
              <a:spcAft>
                <a:spcPts val="400"/>
              </a:spcAft>
              <a:defRPr sz="2400" b="1">
                <a:solidFill>
                  <a:srgbClr val="4A90D9"/>
                </a:solidFill>
                <a:latin typeface="Calibri"/>
              </a:defRPr>
            </a:pPr>
            <a:r>
              <a:t>Future Work:</a:t>
            </a: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Validate on amputee participants (current data from intact-limb subjects)</a:t>
            </a: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Implement online adaptation / transfer learning for subject-specific fine-tuning</a:t>
            </a: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Extend to multi-DOF control: individual finger force + wrist rotation</a:t>
            </a: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Explore transformer-based architectures for longer temporal dependencies</a:t>
            </a: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Add haptic feedback to close the sensorimotor loop</a:t>
            </a:r>
          </a:p>
          <a:p>
            <a:pPr algn="l">
              <a:lnSpc>
                <a:spcPts val="2400"/>
              </a:lnSpc>
              <a:spcAft>
                <a:spcPts val="400"/>
              </a:spcAft>
              <a:defRPr sz="1900" b="0">
                <a:solidFill>
                  <a:srgbClr val="FFFFFF"/>
                </a:solidFill>
                <a:latin typeface="Calibri"/>
              </a:defRPr>
            </a:pPr>
            <a:r>
              <a:t>•  Clinical trial for usability and user satisfaction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64008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2800" b="1">
                <a:solidFill>
                  <a:srgbClr val="4A90D9"/>
                </a:solidFill>
                <a:latin typeface="Calibri"/>
              </a:defRPr>
            </a:pPr>
            <a:r>
              <a:t>Thank you  —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